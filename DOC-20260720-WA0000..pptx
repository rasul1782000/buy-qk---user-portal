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cover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0"/>
            <a:ext cx="6382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475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35508" y="571500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069848" y="56235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21792" y="1143000"/>
            <a:ext cx="1783080" cy="292608"/>
          </a:xfrm>
          <a:prstGeom prst="roundRect">
            <a:avLst>
              <a:gd name="adj" fmla="val 37500"/>
            </a:avLst>
          </a:prstGeom>
          <a:solidFill>
            <a:srgbClr val="142945"/>
          </a:solidFill>
          <a:ln w="12700">
            <a:solidFill>
              <a:srgbClr val="263B59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223467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2D49B"/>
                </a:solidFill>
              </a:rPr>
              <a:t>Investor Pitch Deck • 2026</a:t>
            </a:r>
            <a:endParaRPr lang="en-US" sz="860" dirty="0"/>
          </a:p>
        </p:txBody>
      </p:sp>
      <p:sp>
        <p:nvSpPr>
          <p:cNvPr id="8" name="Text 5"/>
          <p:cNvSpPr/>
          <p:nvPr/>
        </p:nvSpPr>
        <p:spPr>
          <a:xfrm>
            <a:off x="621792" y="18745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Local Need.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Intelligent Marketplace.</a:t>
            </a:r>
            <a:endParaRPr lang="en-US" sz="4300" dirty="0"/>
          </a:p>
        </p:txBody>
      </p:sp>
      <p:sp>
        <p:nvSpPr>
          <p:cNvPr id="9" name="Text 6"/>
          <p:cNvSpPr/>
          <p:nvPr/>
        </p:nvSpPr>
        <p:spPr>
          <a:xfrm>
            <a:off x="658368" y="379476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BuyQK connects customers, local businesses and delivery partners through a unified commerce layer built for Indian neighborhoods.</a:t>
            </a:r>
            <a:endParaRPr lang="en-US" sz="1520" dirty="0"/>
          </a:p>
        </p:txBody>
      </p:sp>
      <p:sp>
        <p:nvSpPr>
          <p:cNvPr id="10" name="Shape 7"/>
          <p:cNvSpPr/>
          <p:nvPr/>
        </p:nvSpPr>
        <p:spPr>
          <a:xfrm>
            <a:off x="658368" y="4809744"/>
            <a:ext cx="1188720" cy="0"/>
          </a:xfrm>
          <a:prstGeom prst="line">
            <a:avLst/>
          </a:prstGeom>
          <a:noFill/>
          <a:ln w="31750">
            <a:solidFill>
              <a:srgbClr val="FF8A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49834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B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in development • Pilot planning • Pre-seed conversation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THESIS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225296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commerce needs an operating system, not another single-category app.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85216" y="2651760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want convenience. Merchants need demand. Riders need efficient routes. Today, these three layers are disconnected.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5800" y="3822192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  <a:effectLst>
            <a:outerShdw sx="100000" sy="100000" kx="0" ky="0" algn="bl" rotWithShape="0" blurRad="12700" dist="50800" dir="2700000">
              <a:srgbClr val="B9A88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0325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3525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search local needs across categories.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16552" y="3822192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  <a:effectLst>
            <a:outerShdw sx="100000" sy="100000" kx="0" ky="0" algn="bl" rotWithShape="0" blurRad="12700" dist="50800" dir="2700000">
              <a:srgbClr val="B9A88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45152" y="40325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45152" y="43525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Neighborhood businesses publish inventory and offers.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47304" y="3822192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  <a:effectLst>
            <a:outerShdw sx="100000" sy="100000" kx="0" ky="0" algn="bl" rotWithShape="0" blurRad="12700" dist="50800" dir="2700000">
              <a:srgbClr val="B9A88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75904" y="40325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Fulfillment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75904" y="43525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Riders move orders through optimized local routes.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13632" y="4334256"/>
            <a:ext cx="685800" cy="0"/>
          </a:xfrm>
          <a:prstGeom prst="line">
            <a:avLst/>
          </a:prstGeom>
          <a:noFill/>
          <a:ln w="25400">
            <a:solidFill>
              <a:srgbClr val="FF8A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4334256"/>
            <a:ext cx="685800" cy="0"/>
          </a:xfrm>
          <a:prstGeom prst="line">
            <a:avLst/>
          </a:prstGeom>
          <a:noFill/>
          <a:ln w="25400">
            <a:solidFill>
              <a:srgbClr val="FF8A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PROBLEM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commerce is fragmented.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Customers, merchants and delivery partners operate in separate silos—creating friction, lost demand and slower fulfilment.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368" y="3145536"/>
            <a:ext cx="32918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" y="385876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Nearby options are hard to discover, compare and order from one place.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453128" y="3145536"/>
            <a:ext cx="32918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Merchants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81728" y="385876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shops have low digital visibility and fragmented tools.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247888" y="3145536"/>
            <a:ext cx="32918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6488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76488" y="385876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Rider allocation, ETA and dispatch often remain manual or inefficient.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777240" y="523036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Result: people still depend on calls, WhatsApp, scattered apps and manual coordination for everyday local needs.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pic>
        <p:nvPicPr>
          <p:cNvPr id="7" name="Image 0" descr="/mnt/data/ai_market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914400"/>
            <a:ext cx="4526280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A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1115568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timing is shifting toward local digital commerce.</a:t>
            </a:r>
            <a:endParaRPr lang="en-US" sz="3500" dirty="0"/>
          </a:p>
        </p:txBody>
      </p:sp>
      <p:sp>
        <p:nvSpPr>
          <p:cNvPr id="10" name="Text 7"/>
          <p:cNvSpPr/>
          <p:nvPr/>
        </p:nvSpPr>
        <p:spPr>
          <a:xfrm>
            <a:off x="566928" y="1975104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is expanding, quick commerce is educating users, and AI makes discovery more personalized and efficient.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58368" y="370332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CA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&gt;$2T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58368" y="4270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9C3D3"/>
                </a:solidFill>
              </a:rPr>
              <a:t>India retail potential by 2030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88920" y="3703320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CA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$6–7B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788920" y="42702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9C3D3"/>
                </a:solidFill>
              </a:rPr>
              <a:t>Quick-commerce market estimate in 2024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0" y="4526280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CA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~40%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029200" y="5093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9C3D3"/>
                </a:solidFill>
              </a:rPr>
              <a:t>Expected quick-commerce annual growth to 2030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8368" y="57424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8A5B7"/>
                </a:solidFill>
              </a:rPr>
              <a:t>Sources: IBEF retail overview; Reuters reporting on Bain/Flipkart e-retail estimates.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 turns local demand into one seamless buying experience.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compare, order, checkout and delivery—across neighborhood products and services.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96112" y="3822192"/>
            <a:ext cx="1938528" cy="658368"/>
          </a:xfrm>
          <a:prstGeom prst="chevron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404164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3017520" y="3822192"/>
            <a:ext cx="1938528" cy="6583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404164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5138928" y="3822192"/>
            <a:ext cx="1938528" cy="6583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404164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7260336" y="3822192"/>
            <a:ext cx="1938528" cy="6583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97496" y="404164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Checkout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9381744" y="3822192"/>
            <a:ext cx="1938528" cy="6583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18904" y="404164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1143000" y="498348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app for customers. One growth channel for merchants. One fulfilment network for riders.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ECOSYSTEM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connected products, one local-commerce network.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MVP is designed as a connected workflow, not isolated screens.</a:t>
            </a:r>
            <a:endParaRPr lang="en-US" sz="1550" dirty="0"/>
          </a:p>
        </p:txBody>
      </p:sp>
      <p:pic>
        <p:nvPicPr>
          <p:cNvPr id="10" name="Image 0" descr="/mnt/data/phone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88" y="685800"/>
            <a:ext cx="3474720" cy="5257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8368" y="2834640"/>
            <a:ext cx="30175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035808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App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59536" y="332841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discovery, cart, payment, order tracking and AI recommendations.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58368" y="4187952"/>
            <a:ext cx="30175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4389120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Merchant Panel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59536" y="46817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Catalogue, pricing, availability, orders and performance insights.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059936" y="2834640"/>
            <a:ext cx="30175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61104" y="3035808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Rider App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261104" y="332841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live availability, order assignment, navigation and delivery status.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059936" y="4187952"/>
            <a:ext cx="30175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61104" y="4389120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Console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4261104" y="46817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onboarding, order control, operations monitoring and support.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A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LAYER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powers discovery, decisions and fulfilment.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BuyQK can become the intelligence layer across search, merchant data and delivery operations.</a:t>
            </a:r>
            <a:endParaRPr lang="en-US" sz="1550" dirty="0"/>
          </a:p>
        </p:txBody>
      </p:sp>
      <p:pic>
        <p:nvPicPr>
          <p:cNvPr id="10" name="Image 0" descr="/mnt/data/ai_layer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788920"/>
            <a:ext cx="4800600" cy="2697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06440" y="277063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Natural-language search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806440" y="309981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relevant local products and services from plain language.</a:t>
            </a:r>
            <a:endParaRPr lang="en-US" sz="870" dirty="0"/>
          </a:p>
        </p:txBody>
      </p:sp>
      <p:sp>
        <p:nvSpPr>
          <p:cNvPr id="13" name="Text 10"/>
          <p:cNvSpPr/>
          <p:nvPr/>
        </p:nvSpPr>
        <p:spPr>
          <a:xfrm>
            <a:off x="8641080" y="277063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engine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41080" y="309981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 products, merchants and reorder prompts.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5806440" y="364845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Price comparison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806440" y="397764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local prices and surface faster, smarter choices.</a:t>
            </a:r>
            <a:endParaRPr lang="en-US" sz="870" dirty="0"/>
          </a:p>
        </p:txBody>
      </p:sp>
      <p:sp>
        <p:nvSpPr>
          <p:cNvPr id="17" name="Text 14"/>
          <p:cNvSpPr/>
          <p:nvPr/>
        </p:nvSpPr>
        <p:spPr>
          <a:xfrm>
            <a:off x="8641080" y="364845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prediction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641080" y="397764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routing, ETA and availability more reliably.</a:t>
            </a:r>
            <a:endParaRPr lang="en-US" sz="870" dirty="0"/>
          </a:p>
        </p:txBody>
      </p:sp>
      <p:sp>
        <p:nvSpPr>
          <p:cNvPr id="19" name="Text 16"/>
          <p:cNvSpPr/>
          <p:nvPr/>
        </p:nvSpPr>
        <p:spPr>
          <a:xfrm>
            <a:off x="5806440" y="452628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Merchant intelligence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806440" y="485546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demand trends, inventory gaps and promotions.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LANDSCAPE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solutions solve slices. BuyQK targets the local stack.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 is not to copy a quick-commerce app; it is to unify local supply, discovery and delivery.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13232" y="2971800"/>
            <a:ext cx="2011680" cy="393192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90672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Company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24912" y="2971800"/>
            <a:ext cx="3017520" cy="393192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3090672"/>
            <a:ext cx="2798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Primary scope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42432" y="2971800"/>
            <a:ext cx="5394960" cy="393192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3090672"/>
            <a:ext cx="5175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Core limitation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" y="3364992"/>
            <a:ext cx="201168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83864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31313"/>
                </a:solidFill>
              </a:rPr>
              <a:t>Amazon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2724912" y="3364992"/>
            <a:ext cx="301752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483864"/>
            <a:ext cx="2798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F6A63"/>
                </a:solidFill>
              </a:rPr>
              <a:t>Everything marketplace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5742432" y="3364992"/>
            <a:ext cx="539496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3483864"/>
            <a:ext cx="5175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F6A63"/>
                </a:solidFill>
              </a:rPr>
              <a:t>Not built for real-time neighborhood commerce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713232" y="3758184"/>
            <a:ext cx="201168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877056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31313"/>
                </a:solidFill>
              </a:rPr>
              <a:t>Zepto / Blinkit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2724912" y="3758184"/>
            <a:ext cx="301752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3877056"/>
            <a:ext cx="2798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F6A63"/>
                </a:solidFill>
              </a:rPr>
              <a:t>Quick commerce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742432" y="3758184"/>
            <a:ext cx="539496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3877056"/>
            <a:ext cx="5175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F6A63"/>
                </a:solidFill>
              </a:rPr>
              <a:t>Grocery-led, dark-store heavy model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713232" y="4151376"/>
            <a:ext cx="201168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270248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31313"/>
                </a:solidFill>
              </a:rPr>
              <a:t>Swiggy / Zomato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2724912" y="4151376"/>
            <a:ext cx="301752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4270248"/>
            <a:ext cx="2798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F6A63"/>
                </a:solidFill>
              </a:rPr>
              <a:t>Food + adjacent quick commerce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5742432" y="4151376"/>
            <a:ext cx="539496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4270248"/>
            <a:ext cx="5175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F6A63"/>
                </a:solidFill>
              </a:rPr>
              <a:t>Restaurant/owned category origins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713232" y="4544568"/>
            <a:ext cx="201168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663440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31313"/>
                </a:solidFill>
              </a:rPr>
              <a:t>Urban Company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2724912" y="4544568"/>
            <a:ext cx="301752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0" y="4663440"/>
            <a:ext cx="2798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F6A63"/>
                </a:solidFill>
              </a:rPr>
              <a:t>Services marketplace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5742432" y="4544568"/>
            <a:ext cx="539496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4663440"/>
            <a:ext cx="5175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F6A63"/>
                </a:solidFill>
              </a:rPr>
              <a:t>Services only, not daily products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713232" y="4937760"/>
            <a:ext cx="2011680" cy="393192"/>
          </a:xfrm>
          <a:prstGeom prst="rect">
            <a:avLst/>
          </a:prstGeom>
          <a:solidFill>
            <a:srgbClr val="FF8A00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056632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BuyQK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2724912" y="4937760"/>
            <a:ext cx="3017520" cy="393192"/>
          </a:xfrm>
          <a:prstGeom prst="rect">
            <a:avLst/>
          </a:prstGeom>
          <a:solidFill>
            <a:srgbClr val="FF8A00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0" y="5056632"/>
            <a:ext cx="2798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All local commerce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5742432" y="4937760"/>
            <a:ext cx="5394960" cy="393192"/>
          </a:xfrm>
          <a:prstGeom prst="rect">
            <a:avLst/>
          </a:prstGeom>
          <a:solidFill>
            <a:srgbClr val="FF8A00"/>
          </a:solidFill>
          <a:ln w="7620">
            <a:solidFill>
              <a:srgbClr val="D5CA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5056632"/>
            <a:ext cx="5175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Multi-category, merchant-first, AI-powered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749808" y="56235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F6A63"/>
                </a:solidFill>
              </a:rPr>
              <a:t>Positioning: BuyQK is designed as an aggregator for local merchants before scaling into deeper logistics infrastructure.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Multiple revenue streams from the same local transaction graph.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starts simple for pilot validation, then expands with merchant tools and promotions.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5800" y="2834640"/>
            <a:ext cx="4892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02666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Commission / Take-rate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1832" y="33375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A63"/>
                </a:solidFill>
              </a:rPr>
              <a:t>Small percentage on orders from participating merchants.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4892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02666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fee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3952" y="33375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A63"/>
                </a:solidFill>
              </a:rPr>
              <a:t>Customer-paid or merchant-shared fee based on distance and order value.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85800" y="4069080"/>
            <a:ext cx="4892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42611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Merchant subscription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1832" y="457200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A63"/>
                </a:solidFill>
              </a:rPr>
              <a:t>Optional pro tools: analytics, catalogue support, priority listing.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4892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42611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Promoted listings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73952" y="457200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A63"/>
                </a:solidFill>
              </a:rPr>
              <a:t>Sponsored placement for local stores and offers after demand is validated.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1124712" y="5532120"/>
            <a:ext cx="9966960" cy="457200"/>
          </a:xfrm>
          <a:prstGeom prst="roundRect">
            <a:avLst>
              <a:gd name="adj" fmla="val 16000"/>
            </a:avLst>
          </a:prstGeom>
          <a:solidFill>
            <a:srgbClr val="FFF1D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5687568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4C00"/>
                </a:solidFill>
              </a:rPr>
              <a:t>Pilot focus: validate repeat orders and merchant economics before increasing monetization complexity.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0" descr="/mnt/data/hero_gtm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097280"/>
            <a:ext cx="443484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A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GO-TO-MARKET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11155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one dense locality before expanding the city.</a:t>
            </a:r>
            <a:endParaRPr lang="en-US" sz="3500" dirty="0"/>
          </a:p>
        </p:txBody>
      </p:sp>
      <p:sp>
        <p:nvSpPr>
          <p:cNvPr id="10" name="Text 7"/>
          <p:cNvSpPr/>
          <p:nvPr/>
        </p:nvSpPr>
        <p:spPr>
          <a:xfrm>
            <a:off x="566928" y="19751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BuyQK should prove repeat demand, store reliability and rider efficiency in a controlled pilot zone.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58368" y="33284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</a:rPr>
              <a:t>01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133856" y="3419856"/>
            <a:ext cx="384048" cy="0"/>
          </a:xfrm>
          <a:prstGeom prst="line">
            <a:avLst/>
          </a:prstGeom>
          <a:noFill/>
          <a:ln w="16510">
            <a:solidFill>
              <a:srgbClr val="FF8A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91640" y="33101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 one high-density zone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352544" y="33238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B9C3D3"/>
                </a:solidFill>
              </a:rPr>
              <a:t>Start with a narrow delivery radius to protect SLA.</a:t>
            </a:r>
            <a:endParaRPr lang="en-US" sz="890" dirty="0"/>
          </a:p>
        </p:txBody>
      </p:sp>
      <p:sp>
        <p:nvSpPr>
          <p:cNvPr id="15" name="Text 12"/>
          <p:cNvSpPr/>
          <p:nvPr/>
        </p:nvSpPr>
        <p:spPr>
          <a:xfrm>
            <a:off x="658368" y="391363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</a:rPr>
              <a:t>02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133856" y="4005072"/>
            <a:ext cx="384048" cy="0"/>
          </a:xfrm>
          <a:prstGeom prst="line">
            <a:avLst/>
          </a:prstGeom>
          <a:noFill/>
          <a:ln w="16510">
            <a:solidFill>
              <a:srgbClr val="FF8A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91640" y="389534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Onboard anchor merchants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352544" y="39090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B9C3D3"/>
                </a:solidFill>
              </a:rPr>
              <a:t>Grocery, pharmacy, snacks, dairy, bakery, stationery.</a:t>
            </a:r>
            <a:endParaRPr lang="en-US" sz="890" dirty="0"/>
          </a:p>
        </p:txBody>
      </p:sp>
      <p:sp>
        <p:nvSpPr>
          <p:cNvPr id="19" name="Text 16"/>
          <p:cNvSpPr/>
          <p:nvPr/>
        </p:nvSpPr>
        <p:spPr>
          <a:xfrm>
            <a:off x="658368" y="449884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</a:rPr>
              <a:t>03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133856" y="4590288"/>
            <a:ext cx="384048" cy="0"/>
          </a:xfrm>
          <a:prstGeom prst="line">
            <a:avLst/>
          </a:prstGeom>
          <a:noFill/>
          <a:ln w="16510">
            <a:solidFill>
              <a:srgbClr val="FF8A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91640" y="448056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manual-first pilot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352544" y="44942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B9C3D3"/>
                </a:solidFill>
              </a:rPr>
              <a:t>Use MVP + ops control to learn before automating everything.</a:t>
            </a:r>
            <a:endParaRPr lang="en-US" sz="890" dirty="0"/>
          </a:p>
        </p:txBody>
      </p:sp>
      <p:sp>
        <p:nvSpPr>
          <p:cNvPr id="23" name="Text 20"/>
          <p:cNvSpPr/>
          <p:nvPr/>
        </p:nvSpPr>
        <p:spPr>
          <a:xfrm>
            <a:off x="658368" y="50840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</a:rPr>
              <a:t>04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133856" y="5175504"/>
            <a:ext cx="384048" cy="0"/>
          </a:xfrm>
          <a:prstGeom prst="line">
            <a:avLst/>
          </a:prstGeom>
          <a:noFill/>
          <a:ln w="16510">
            <a:solidFill>
              <a:srgbClr val="FF8A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91640" y="50657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by category density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352544" y="50794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B9C3D3"/>
                </a:solidFill>
              </a:rPr>
              <a:t>Add merchants where demand and repeat orders are proven.</a:t>
            </a:r>
            <a:endParaRPr lang="en-US" sz="8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Asset-light first, infrastructure later.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BuyQK can begin with neighborhood merchants and unified delivery, then decide where deeper supply control is needed.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2743200" y="3913632"/>
            <a:ext cx="1828800" cy="0"/>
          </a:xfrm>
          <a:prstGeom prst="line">
            <a:avLst/>
          </a:prstGeom>
          <a:noFill/>
          <a:ln w="26670">
            <a:solidFill>
              <a:srgbClr val="FF8A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49240" y="3913632"/>
            <a:ext cx="1828800" cy="0"/>
          </a:xfrm>
          <a:prstGeom prst="line">
            <a:avLst/>
          </a:prstGeom>
          <a:noFill/>
          <a:ln w="26670">
            <a:solidFill>
              <a:srgbClr val="FF8A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955280" y="3913632"/>
            <a:ext cx="1828800" cy="0"/>
          </a:xfrm>
          <a:prstGeom prst="line">
            <a:avLst/>
          </a:prstGeom>
          <a:noFill/>
          <a:ln w="26670">
            <a:solidFill>
              <a:srgbClr val="FF8A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" y="324612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02736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Merchants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393192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F6A63"/>
                </a:solidFill>
              </a:rPr>
              <a:t>Catalogue + live orders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337560" y="324612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602736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93592" y="393192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F6A63"/>
                </a:solidFill>
              </a:rPr>
              <a:t>Search + checkout + dispatch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943600" y="324612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602736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Rider Network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9632" y="393192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F6A63"/>
                </a:solidFill>
              </a:rPr>
              <a:t>Pickup + delivery status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549640" y="324612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3602736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05672" y="393192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F6A63"/>
                </a:solidFill>
              </a:rPr>
              <a:t>Track + reorder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097280" y="53218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choice: avoid dark-store capital burn in the earliest stage; use merchant inventory first, then invest where order density proves it.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Milestones are built around proof, not vanity growth.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phase should unlock the next fundraising and expansion step.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5800" y="2880360"/>
            <a:ext cx="2487168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1272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</a:rPr>
              <a:t>0–30 days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" y="345643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polish + pilot setup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6968" y="4160520"/>
            <a:ext cx="914400" cy="0"/>
          </a:xfrm>
          <a:prstGeom prst="line">
            <a:avLst/>
          </a:prstGeom>
          <a:noFill/>
          <a:ln w="1905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407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A63"/>
                </a:solidFill>
              </a:rPr>
              <a:t>Merchant interviews • user waitlist • category selection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520440" y="2880360"/>
            <a:ext cx="2487168" cy="2331720"/>
          </a:xfrm>
          <a:prstGeom prst="roundRect">
            <a:avLst>
              <a:gd name="adj" fmla="val 2353"/>
            </a:avLst>
          </a:prstGeom>
          <a:solidFill>
            <a:srgbClr val="FFF1DD"/>
          </a:solidFill>
          <a:ln w="12700">
            <a:solidFill>
              <a:srgbClr val="DCA1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1608" y="31272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</a:rPr>
              <a:t>31–90 days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21608" y="345643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pilot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21608" y="4160520"/>
            <a:ext cx="914400" cy="0"/>
          </a:xfrm>
          <a:prstGeom prst="line">
            <a:avLst/>
          </a:prstGeom>
          <a:noFill/>
          <a:ln w="19050">
            <a:solidFill>
              <a:srgbClr val="FF8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1608" y="4407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A63"/>
                </a:solidFill>
              </a:rPr>
              <a:t>Orders • delivery SLA • repeat rate • refunds/cancellations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355080" y="2880360"/>
            <a:ext cx="2487168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31272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</a:rPr>
              <a:t>3–6 months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56248" y="345643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City playbook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56248" y="4160520"/>
            <a:ext cx="914400" cy="0"/>
          </a:xfrm>
          <a:prstGeom prst="line">
            <a:avLst/>
          </a:prstGeom>
          <a:noFill/>
          <a:ln w="19050">
            <a:solidFill>
              <a:srgbClr val="FF8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6248" y="4407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A63"/>
                </a:solidFill>
              </a:rPr>
              <a:t>Merchant density • rider utilization • unit economics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9189720" y="2880360"/>
            <a:ext cx="2487168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5CA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90888" y="31272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</a:rPr>
              <a:t>6–12 months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90888" y="345643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90888" y="4160520"/>
            <a:ext cx="914400" cy="0"/>
          </a:xfrm>
          <a:prstGeom prst="line">
            <a:avLst/>
          </a:prstGeom>
          <a:noFill/>
          <a:ln w="19050">
            <a:solidFill>
              <a:srgbClr val="FF8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0888" y="4407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A63"/>
                </a:solidFill>
              </a:rPr>
              <a:t>More zones • category breadth • merchant tools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713232" y="55961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F6A63"/>
                </a:solidFill>
              </a:rPr>
              <a:t>Core KPIs: orders/day, repeat rate, GMV, fulfilment SLA, merchant retention, contribution margin per order.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A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 &amp; ASK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8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is in development. The next milestone is a measurable pilot.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B9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immediate goal is to convert product progress into merchant, user and order-level proof.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13232" y="30632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</a:rPr>
              <a:t>Now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72768" y="304495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8EF"/>
                </a:solidFill>
              </a:rPr>
              <a:t>Customer, merchant and rider flows under development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37581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</a:rPr>
              <a:t>Next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72768" y="373989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8EF"/>
                </a:solidFill>
              </a:rPr>
              <a:t>Pilot in one Patna locality with onboarded merchants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445312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</a:rPr>
              <a:t>Proof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72768" y="44348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8EF"/>
                </a:solidFill>
              </a:rPr>
              <a:t>Repeat orders, delivery SLA and early unit economics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0" y="2697480"/>
            <a:ext cx="3886200" cy="2514600"/>
          </a:xfrm>
          <a:prstGeom prst="roundRect">
            <a:avLst>
              <a:gd name="adj" fmla="val 2909"/>
            </a:avLst>
          </a:prstGeom>
          <a:solidFill>
            <a:srgbClr val="10233A"/>
          </a:solidFill>
          <a:ln w="12700">
            <a:solidFill>
              <a:srgbClr val="283D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30632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C3D3"/>
                </a:solidFill>
              </a:rPr>
              <a:t>Proposed pre-seed ask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60920" y="34564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A1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₹15–25L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452360" y="40965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0EA"/>
                </a:solidFill>
              </a:rPr>
              <a:t>Pilot capital + strategic mentorship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60920" y="45902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6C6"/>
                </a:solidFill>
              </a:rPr>
              <a:t>Use of funds: product completion, pilot operations, merchant onboarding, marketing tests and core cloud/legal setup.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" y="5705856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A5B7"/>
                </a:solidFill>
              </a:rPr>
              <a:t>Note: ask amount can be adjusted after final MVP cost, team plan and pilot budget are locked.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 is building the commerce layer for every local business.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94944" y="2679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F6A63"/>
                </a:solidFill>
              </a:rPr>
              <a:t>The next step is simple: finish the MVP, run a controlled pilot, prove repeat demand and scale with discipline.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3858768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13131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0965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A147"/>
                </a:solidFill>
              </a:rPr>
              <a:t>Next conversation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51560" y="44256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demo + pilot execution plan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54406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313"/>
                </a:solidFill>
              </a:rPr>
              <a:t>Abhijeet Shrivastav • Founder, BuyQK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572414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63"/>
                </a:solidFill>
              </a:rPr>
              <a:t>Contact details can be added before sending.</a:t>
            </a:r>
            <a:endParaRPr lang="en-US" sz="900" dirty="0"/>
          </a:p>
        </p:txBody>
      </p:sp>
      <p:pic>
        <p:nvPicPr>
          <p:cNvPr id="15" name="Image 0" descr="/mnt/data/hero_close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3520440"/>
            <a:ext cx="4297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8A00"/>
          </a:solidFill>
          <a:ln w="12700">
            <a:solidFill>
              <a:srgbClr val="FF8A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4068" y="4251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" y="4160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BuyQK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investor preview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5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868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&amp; ASSUMPTIONS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313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numbers are directional and should be updated before investor sending.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F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as an internal appendix or remove it for a shorter live presentation.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8952" y="278892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276148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3"/>
                </a:solidFill>
              </a:rPr>
              <a:t>IBEF Retail Industry Overview: India retail sector outlook toward 2030.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58952" y="342900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34015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3"/>
                </a:solidFill>
              </a:rPr>
              <a:t>Reuters, Mar 2025: Bain &amp; Flipkart report on India e-grocery and quick-commerce market estimates.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58952" y="40690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25880" y="40416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3"/>
                </a:solidFill>
              </a:rPr>
              <a:t>Economic Times / Times of India, Jul 2026: Bernstein-reported dark store expansion trends.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58952" y="470916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25880" y="46817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F6A63"/>
                </a:solidFill>
              </a:rPr>
              <a:t>Assumptions: MVP stage, pilot city/locality, proposed pre-seed ask and KPI targets are editable placeholders.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8952" y="55778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31313"/>
                </a:solidFill>
              </a:rPr>
              <a:t>Before fundraising, replace directional targets with actual merchant interviews, waitlist numbers, pilot order data and final product screenshots.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BuyQK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BuyQK Investor Pitch Deck</dc:title>
  <dc:subject>BuyQK investor pitch deck</dc:subject>
  <dc:creator>OpenAI</dc:creator>
  <cp:lastModifiedBy>OpenAI</cp:lastModifiedBy>
  <cp:revision>1</cp:revision>
  <dcterms:created xsi:type="dcterms:W3CDTF">2026-07-20T04:58:07Z</dcterms:created>
  <dcterms:modified xsi:type="dcterms:W3CDTF">2026-07-20T04:58:07Z</dcterms:modified>
</cp:coreProperties>
</file>